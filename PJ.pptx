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83" d="100"/>
          <a:sy n="83" d="100"/>
        </p:scale>
        <p:origin x="72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A083E5-8A65-002E-3146-EBEDA1B014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491C63-A8D6-E7E5-765C-0E616562C0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368AC7-25DF-5324-1BCF-CCE0CC64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5001-117B-4753-AE79-C059ED4184E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56F77C-B602-D3C4-C499-A9DA0BDCD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10C95C-8C0F-52C1-4467-2E84CF104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6C453-71A8-4EBA-AEA5-A795CDDD52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99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A690B1-D75D-EF7F-F04B-CC50397E3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BA3542-C51B-C7A9-B0F6-583A93A63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002320-A0DD-E827-C17B-B0503D3AD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5001-117B-4753-AE79-C059ED4184E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F1CCDF-5DF7-4EBE-047E-4BA2CAFC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D197FF-A2A1-1209-AF14-8A5A811FF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6C453-71A8-4EBA-AEA5-A795CDDD52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568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9213F2-5BC4-A296-3423-A2119C42C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3F6C2F-6EB0-8B65-F76C-EFD846076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B299D9-B997-DC45-79EB-F2B99EB91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5001-117B-4753-AE79-C059ED4184E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3BF430-C861-6AF5-CCA5-C799B5552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A0D097-2307-4034-8C12-07E29AA7F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6C453-71A8-4EBA-AEA5-A795CDDD52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114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6CA054-5CBD-DC29-5507-1F23D310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356B36-DCC9-9CC4-AA94-D342290C84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CD1BC9-7A42-0DD5-C6F0-9D612E1EC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756FEC-AB38-10BB-A527-4A2C51995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5001-117B-4753-AE79-C059ED4184E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E65A0C-DC29-E704-7C2F-FB61DAF39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5D5346-7BD2-5D04-3391-6CE0D7C1E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6C453-71A8-4EBA-AEA5-A795CDDD52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78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EC5DD-D4B6-9EBC-36F7-B93A3F32B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965482-6108-6FF7-F618-76A758145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FD7C5E-F64D-498A-A80E-14D736FBE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AEFDB02-09EB-B527-0A45-26609EB6C9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07BD38F-8A75-F32F-805D-511FC9EBEF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D83932-9F5F-9F25-4672-D568246DD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5001-117B-4753-AE79-C059ED4184E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D761716-2B92-A756-9420-3179E092A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D4A6690-0A88-7F5D-9301-7FB7F2DEE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6C453-71A8-4EBA-AEA5-A795CDDD52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680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FE8A2E-00B5-ECFF-23A3-772F37117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DBCE85-677A-7595-D0E9-08C9555A2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5001-117B-4753-AE79-C059ED4184E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E7C113-31B3-DBE7-70B4-C120D808A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348844-D9AF-8FE5-CD7E-450BA66E0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6C453-71A8-4EBA-AEA5-A795CDDD52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788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BB890CD-CF88-A878-02D1-DC219CB34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5001-117B-4753-AE79-C059ED4184E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2D8FFC-3E6D-12F8-8D1E-A8ED09338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7FC01C-FB75-9171-B289-226142C1C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6C453-71A8-4EBA-AEA5-A795CDDD52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01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109AC-7586-EAFE-4C05-17DD8640A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A8154C-1F77-C83F-EC5E-8A118289B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EA393A-5D82-8A34-458F-7E6E2A505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E6EEC4-9EC7-7E03-7FF3-9BE1D6982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5001-117B-4753-AE79-C059ED4184E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7E64C7-9EF1-2B51-A4EF-ABE2D7AE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0E5224-64CC-A2E5-5CC8-AFA491AF9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6C453-71A8-4EBA-AEA5-A795CDDD52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723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0A7D00-9748-DBA0-D5FF-54335AF73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8A6363-A551-73E8-800F-7AA3ED4A3A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C1FBF7-6F6A-0F70-80FA-4890C4D81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90AC16-A2B3-0F42-B29E-9876E3464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5001-117B-4753-AE79-C059ED4184E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F4415D-0B7A-9C44-DE40-462D89852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C1024-B577-80F0-023A-DD6B5945D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6C453-71A8-4EBA-AEA5-A795CDDD52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725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367BFA-C56E-9E92-36D4-D19A4119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1E4492-888A-5DC3-462D-F22BF5247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29DC86-C660-D4D7-C463-424731A5D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5001-117B-4753-AE79-C059ED4184E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BA4633-FCEE-7A48-8A1C-9D36E2E3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40D88B-EFE3-149B-23D0-D860D98C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6C453-71A8-4EBA-AEA5-A795CDDD52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2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163844C-7C96-7F98-1FAE-9C205BEBBA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B3F6465-1AFA-5233-DA83-752E691FC8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C78C0D-1501-8AF0-A9A4-C7B84D13C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5001-117B-4753-AE79-C059ED4184E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4BE501-7159-63C1-F844-9711F290D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708104-0AAF-5FBF-425F-9D3462A21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6C453-71A8-4EBA-AEA5-A795CDDD52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541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E14CEBE-9086-0E7B-F91D-F6716EF30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39F391-90E9-8A6D-55D4-1CDD8E208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CD9C45-6185-6710-0B69-0212C6B92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4A5001-117B-4753-AE79-C059ED4184E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B4322C-B455-4783-42FA-6348C6833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78E396-9096-F416-6927-88BEBE320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D6C453-71A8-4EBA-AEA5-A795CDDD52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167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A0091C-1694-786D-FD35-B3096E3C13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从</a:t>
            </a:r>
            <a:r>
              <a:rPr lang="en-US" altLang="zh-CN" b="1" dirty="0" err="1">
                <a:latin typeface="HarmonyOS Sans SC" panose="00000500000000000000" pitchFamily="2" charset="-122"/>
                <a:ea typeface="HarmonyOS Sans SC" panose="00000500000000000000" pitchFamily="2" charset="-122"/>
              </a:rPr>
              <a:t>Kmeans</a:t>
            </a:r>
            <a:r>
              <a:rPr lang="en-US" altLang="zh-CN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-IVF</a:t>
            </a:r>
            <a:r>
              <a:rPr lang="zh-CN" altLang="en-US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到</a:t>
            </a:r>
            <a:r>
              <a:rPr lang="en-US" altLang="zh-CN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HNSW</a:t>
            </a:r>
            <a:endParaRPr lang="zh-CN" altLang="en-US" b="1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235C8FA-44A0-0795-0466-6DFD12DFDA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323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B4AE63-587A-802F-291D-935046B8A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749" y="309030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zh-CN" dirty="0" err="1">
                <a:latin typeface="HarmonyOS Sans SC" panose="00000500000000000000" pitchFamily="2" charset="-122"/>
                <a:ea typeface="HarmonyOS Sans SC" panose="00000500000000000000" pitchFamily="2" charset="-122"/>
              </a:rPr>
              <a:t>Kmeans</a:t>
            </a:r>
            <a:b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</a:br>
            <a:r>
              <a:rPr lang="zh-CN" altLang="en-US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并行聚类</a:t>
            </a:r>
            <a:b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</a:br>
            <a:b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</a:br>
            <a:r>
              <a:rPr lang="zh-CN" altLang="en-US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倒排</a:t>
            </a:r>
            <a:b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</a:br>
            <a:r>
              <a:rPr lang="zh-CN" altLang="en-US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挂在哪个桶下</a:t>
            </a:r>
            <a:b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</a:br>
            <a:b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</a:br>
            <a:r>
              <a:rPr lang="zh-CN" altLang="en-US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重排</a:t>
            </a:r>
            <a:b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</a:br>
            <a:r>
              <a:rPr lang="zh-CN" altLang="en-US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每个桶</a:t>
            </a:r>
            <a:b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</a:br>
            <a:r>
              <a:rPr lang="zh-CN" altLang="en-US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内存中连续</a:t>
            </a:r>
            <a:b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</a:br>
            <a:endParaRPr lang="zh-CN" altLang="en-US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59CE2D67-A33F-A12B-FBDA-A74DE7B4E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503" y="36037"/>
            <a:ext cx="53957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057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09201E-1501-6BD7-2BE4-A79F2B56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 descr="图表&#10;&#10;AI 生成的内容可能不正确。">
            <a:extLst>
              <a:ext uri="{FF2B5EF4-FFF2-40B4-BE49-F238E27FC236}">
                <a16:creationId xmlns:a16="http://schemas.microsoft.com/office/drawing/2014/main" id="{7F8FE38A-B77B-7361-35F7-B74D3B5F8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5" y="-58992"/>
            <a:ext cx="6302476" cy="3781486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FAE75DB-94CD-C063-A0F0-0DBD148641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013" y="3470259"/>
            <a:ext cx="5767225" cy="3460335"/>
          </a:xfrm>
          <a:prstGeom prst="rect">
            <a:avLst/>
          </a:prstGeom>
        </p:spPr>
      </p:pic>
      <p:pic>
        <p:nvPicPr>
          <p:cNvPr id="9" name="图片 8" descr="表格&#10;&#10;AI 生成的内容可能不正确。">
            <a:extLst>
              <a:ext uri="{FF2B5EF4-FFF2-40B4-BE49-F238E27FC236}">
                <a16:creationId xmlns:a16="http://schemas.microsoft.com/office/drawing/2014/main" id="{3BA2A077-9D97-0278-F6E4-A1FFE4AC9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476" y="-58992"/>
            <a:ext cx="5194001" cy="3408263"/>
          </a:xfrm>
          <a:prstGeom prst="rect">
            <a:avLst/>
          </a:prstGeom>
        </p:spPr>
      </p:pic>
      <p:pic>
        <p:nvPicPr>
          <p:cNvPr id="11" name="图片 10" descr="表格&#10;&#10;AI 生成的内容可能不正确。">
            <a:extLst>
              <a:ext uri="{FF2B5EF4-FFF2-40B4-BE49-F238E27FC236}">
                <a16:creationId xmlns:a16="http://schemas.microsoft.com/office/drawing/2014/main" id="{4508B486-7A6D-5E23-62F4-F24B9F24D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99" y="3607830"/>
            <a:ext cx="5628402" cy="436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30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C77FAF-6932-3F7B-66E3-B8DFD7A60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KD-Tree  </a:t>
            </a:r>
            <a:r>
              <a:rPr lang="zh-CN" altLang="en-US" sz="24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按照每个轴二分空间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F85160-8407-D40C-E7B1-4186C5A61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668" y="1654456"/>
            <a:ext cx="10515600" cy="4351338"/>
          </a:xfrm>
        </p:spPr>
        <p:txBody>
          <a:bodyPr/>
          <a:lstStyle/>
          <a:p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Hamming Distance</a:t>
            </a:r>
          </a:p>
          <a:p>
            <a:r>
              <a:rPr lang="zh-CN" altLang="en-US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按照每一位对中位数大小</a:t>
            </a:r>
            <a:endParaRPr lang="en-US" altLang="zh-CN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r>
              <a:rPr lang="zh-CN" altLang="en-US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置</a:t>
            </a: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0/1</a:t>
            </a:r>
            <a:r>
              <a:rPr lang="zh-CN" altLang="en-US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计算二进制指纹</a:t>
            </a:r>
            <a:endParaRPr lang="en-US" altLang="zh-CN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r>
              <a:rPr lang="zh-CN" altLang="en-US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快速过滤不符合条件的点</a:t>
            </a: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C6D6B61C-0FB8-867F-6B0F-E38051594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00" y="3683142"/>
            <a:ext cx="5842771" cy="2809733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FB4B2130-6E7A-01FB-225A-576A7676F9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471" y="127930"/>
            <a:ext cx="5925354" cy="3555212"/>
          </a:xfrm>
          <a:prstGeom prst="rect">
            <a:avLst/>
          </a:prstGeom>
        </p:spPr>
      </p:pic>
      <p:pic>
        <p:nvPicPr>
          <p:cNvPr id="8" name="图片 7" descr="图表, 散点图&#10;&#10;AI 生成的内容可能不正确。">
            <a:extLst>
              <a:ext uri="{FF2B5EF4-FFF2-40B4-BE49-F238E27FC236}">
                <a16:creationId xmlns:a16="http://schemas.microsoft.com/office/drawing/2014/main" id="{7C0ED921-4A1D-F343-1CC6-8988DEE512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385" y="3624492"/>
            <a:ext cx="5270186" cy="316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076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14E089-9CA3-72FE-CF15-B5672907A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CSR</a:t>
            </a:r>
            <a:r>
              <a:rPr lang="zh-CN" altLang="en-US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扁平化存储</a:t>
            </a: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-</a:t>
            </a:r>
            <a:r>
              <a:rPr lang="zh-CN" altLang="en-US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减少</a:t>
            </a: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Cache Miss</a:t>
            </a:r>
            <a:r>
              <a:rPr lang="zh-CN" altLang="en-US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加快访问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6D0FB4-3926-BC40-878C-DFBA85E69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要优化搜索效率，我们首先需要分析搜索时间都花在了哪里。优化后的距离计算执行一次只需要</a:t>
            </a: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47</a:t>
            </a:r>
            <a:r>
              <a:rPr lang="zh-CN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个时钟周期（估算过程见</a:t>
            </a: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3.</a:t>
            </a:r>
            <a:r>
              <a:rPr lang="zh-CN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（一），实现见</a:t>
            </a:r>
            <a:r>
              <a:rPr lang="en-US" altLang="zh-CN" dirty="0" err="1">
                <a:latin typeface="HarmonyOS Sans SC" panose="00000500000000000000" pitchFamily="2" charset="-122"/>
                <a:ea typeface="HarmonyOS Sans SC" panose="00000500000000000000" pitchFamily="2" charset="-122"/>
              </a:rPr>
              <a:t>distance.h</a:t>
            </a:r>
            <a:r>
              <a:rPr lang="zh-CN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）</a:t>
            </a: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,</a:t>
            </a:r>
          </a:p>
          <a:p>
            <a:r>
              <a:rPr lang="zh-CN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在本地</a:t>
            </a: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5.05Ghz</a:t>
            </a:r>
            <a:r>
              <a:rPr lang="zh-CN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的</a:t>
            </a: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CPU</a:t>
            </a:r>
            <a:r>
              <a:rPr lang="zh-CN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上，运行两万次计算只需要</a:t>
            </a: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0.186ms</a:t>
            </a:r>
            <a:r>
              <a:rPr lang="zh-CN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，远低于实际搜索的</a:t>
            </a: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1.9ms(</a:t>
            </a:r>
            <a:r>
              <a:rPr lang="zh-CN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召回率</a:t>
            </a: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0.99</a:t>
            </a:r>
            <a:r>
              <a:rPr lang="zh-CN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下的数据，此时距离计算次数约两万次</a:t>
            </a: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)</a:t>
            </a:r>
            <a:r>
              <a:rPr lang="zh-CN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。</a:t>
            </a:r>
            <a:endParaRPr lang="en-US" altLang="zh-CN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r>
              <a:rPr lang="zh-CN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因此，我们可以认为这是一个</a:t>
            </a: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Memory bound</a:t>
            </a:r>
            <a:r>
              <a:rPr lang="zh-CN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的问题，主要耗时在于内存延时与</a:t>
            </a: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Cache Miss</a:t>
            </a:r>
            <a:r>
              <a:rPr lang="zh-CN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带来的减速。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8770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FE4961-77C8-5772-52A8-67F7E1E2B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2D00F6-301A-4991-4D47-37D8E176D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图表, 直方图&#10;&#10;AI 生成的内容可能不正确。">
            <a:extLst>
              <a:ext uri="{FF2B5EF4-FFF2-40B4-BE49-F238E27FC236}">
                <a16:creationId xmlns:a16="http://schemas.microsoft.com/office/drawing/2014/main" id="{DF6DDB82-04AF-DD6E-8007-61F425663A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9147"/>
            <a:ext cx="11134584" cy="65788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9454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1FFB4-2450-53E8-41D3-5728B24FC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 descr="图表, 折线图&#10;&#10;AI 生成的内容可能不正确。">
            <a:extLst>
              <a:ext uri="{FF2B5EF4-FFF2-40B4-BE49-F238E27FC236}">
                <a16:creationId xmlns:a16="http://schemas.microsoft.com/office/drawing/2014/main" id="{2984454E-54FC-EE37-30F3-4FE5FD283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8" y="51384"/>
            <a:ext cx="5998613" cy="3469629"/>
          </a:xfrm>
        </p:spPr>
      </p:pic>
      <p:pic>
        <p:nvPicPr>
          <p:cNvPr id="7" name="图片 6" descr="图表, 直方图&#10;&#10;AI 生成的内容可能不正确。">
            <a:extLst>
              <a:ext uri="{FF2B5EF4-FFF2-40B4-BE49-F238E27FC236}">
                <a16:creationId xmlns:a16="http://schemas.microsoft.com/office/drawing/2014/main" id="{E4B50FE0-9D4A-2AD8-E49A-B823E109E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261" y="3308066"/>
            <a:ext cx="5928171" cy="3429539"/>
          </a:xfrm>
          <a:prstGeom prst="rect">
            <a:avLst/>
          </a:prstGeom>
        </p:spPr>
      </p:pic>
      <p:pic>
        <p:nvPicPr>
          <p:cNvPr id="9" name="图片 8" descr="图表, 折线图&#10;&#10;AI 生成的内容可能不正确。">
            <a:extLst>
              <a:ext uri="{FF2B5EF4-FFF2-40B4-BE49-F238E27FC236}">
                <a16:creationId xmlns:a16="http://schemas.microsoft.com/office/drawing/2014/main" id="{E48955E4-0591-106F-5B38-7F7A13A175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8" y="3375804"/>
            <a:ext cx="6096489" cy="3526913"/>
          </a:xfrm>
          <a:prstGeom prst="rect">
            <a:avLst/>
          </a:prstGeom>
        </p:spPr>
      </p:pic>
      <p:pic>
        <p:nvPicPr>
          <p:cNvPr id="11" name="图片 10" descr="图表, 雷达图, 折线图&#10;&#10;AI 生成的内容可能不正确。">
            <a:extLst>
              <a:ext uri="{FF2B5EF4-FFF2-40B4-BE49-F238E27FC236}">
                <a16:creationId xmlns:a16="http://schemas.microsoft.com/office/drawing/2014/main" id="{F4C7CDE4-9210-B618-ABA9-36BF2ADB04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5464" y="51384"/>
            <a:ext cx="6345665" cy="36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821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3DFB5-10F9-5F7C-EA88-96FCDEE00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F87ED1F0-EFF9-631A-B0DE-8DC0E9736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842" y="99880"/>
            <a:ext cx="9144108" cy="5486465"/>
          </a:xfrm>
          <a:prstGeom prst="rect">
            <a:avLst/>
          </a:prstGeom>
        </p:spPr>
      </p:pic>
      <p:sp>
        <p:nvSpPr>
          <p:cNvPr id="8" name="内容占位符 7">
            <a:extLst>
              <a:ext uri="{FF2B5EF4-FFF2-40B4-BE49-F238E27FC236}">
                <a16:creationId xmlns:a16="http://schemas.microsoft.com/office/drawing/2014/main" id="{640584B4-27B1-0C40-B84F-596B6A0E4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591611C-3336-59AA-1F10-007B1945D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6345"/>
            <a:ext cx="12192000" cy="121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96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177</Words>
  <Application>Microsoft Office PowerPoint</Application>
  <PresentationFormat>宽屏</PresentationFormat>
  <Paragraphs>12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HarmonyOS Sans SC</vt:lpstr>
      <vt:lpstr>等线</vt:lpstr>
      <vt:lpstr>等线 Light</vt:lpstr>
      <vt:lpstr>Arial</vt:lpstr>
      <vt:lpstr>Office 主题​​</vt:lpstr>
      <vt:lpstr>从Kmeans-IVF到HNSW</vt:lpstr>
      <vt:lpstr>Kmeans 并行聚类  倒排 挂在哪个桶下  重排 每个桶 内存中连续 </vt:lpstr>
      <vt:lpstr>PowerPoint 演示文稿</vt:lpstr>
      <vt:lpstr>KD-Tree  按照每个轴二分空间</vt:lpstr>
      <vt:lpstr>CSR扁平化存储-减少Cache Miss加快访问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 y</dc:creator>
  <cp:lastModifiedBy>x y</cp:lastModifiedBy>
  <cp:revision>2</cp:revision>
  <dcterms:created xsi:type="dcterms:W3CDTF">2025-12-09T14:52:49Z</dcterms:created>
  <dcterms:modified xsi:type="dcterms:W3CDTF">2025-12-09T15:39:19Z</dcterms:modified>
</cp:coreProperties>
</file>